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84" r:id="rId2"/>
    <p:sldId id="263" r:id="rId3"/>
    <p:sldId id="262" r:id="rId4"/>
    <p:sldId id="285" r:id="rId5"/>
    <p:sldId id="295" r:id="rId6"/>
    <p:sldId id="265" r:id="rId7"/>
    <p:sldId id="296" r:id="rId8"/>
    <p:sldId id="297" r:id="rId9"/>
    <p:sldId id="298" r:id="rId10"/>
    <p:sldId id="299" r:id="rId11"/>
    <p:sldId id="300" r:id="rId12"/>
    <p:sldId id="301" r:id="rId13"/>
    <p:sldId id="268" r:id="rId14"/>
    <p:sldId id="269" r:id="rId15"/>
    <p:sldId id="302" r:id="rId16"/>
    <p:sldId id="286" r:id="rId17"/>
    <p:sldId id="270" r:id="rId18"/>
    <p:sldId id="271" r:id="rId19"/>
    <p:sldId id="272" r:id="rId20"/>
    <p:sldId id="273" r:id="rId21"/>
    <p:sldId id="275" r:id="rId22"/>
    <p:sldId id="277" r:id="rId23"/>
    <p:sldId id="278" r:id="rId24"/>
    <p:sldId id="276" r:id="rId25"/>
    <p:sldId id="279" r:id="rId26"/>
    <p:sldId id="280" r:id="rId27"/>
    <p:sldId id="281" r:id="rId28"/>
    <p:sldId id="282" r:id="rId29"/>
    <p:sldId id="283" r:id="rId30"/>
    <p:sldId id="303" r:id="rId31"/>
    <p:sldId id="256" r:id="rId32"/>
    <p:sldId id="260" r:id="rId33"/>
    <p:sldId id="257" r:id="rId34"/>
    <p:sldId id="259" r:id="rId35"/>
    <p:sldId id="261" r:id="rId36"/>
    <p:sldId id="258" r:id="rId37"/>
    <p:sldId id="266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264" r:id="rId4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A5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4A2C9-8D65-A921-31E5-A91E89A4BFDB}" v="133" dt="2026-09-01T15:26:27.349"/>
    <p1510:client id="{2998B58B-60DD-44AB-966A-CCE7ABE869FF}" v="76" dt="2026-09-02T06:29:30.271"/>
    <p1510:client id="{7CCA9B21-BD2E-4D7E-BC6B-E8DB69B732B1}" v="26" dt="2026-08-31T15:04:41.832"/>
    <p1510:client id="{C352B01E-5809-47AC-B695-AC938FE70633}" v="33" dt="2026-09-02T06:23:24.394"/>
    <p1510:client id="{CD89341C-6CDC-4CBD-9E12-14BC53B814E2}" v="224" dt="2026-09-01T11:11:46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79B02-3893-4241-9D3C-787CF82EC4F3}" type="datetimeFigureOut"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8618C-83DC-4DC7-BB9D-8D4DC082CD2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16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69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3.pn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ack Background Barbershop Peel and Stick Wallpaper or Unpasted | Barber  shop background for instagram, Barber shop wallpaper, Barbershop wallpa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83122" y="-3169287"/>
            <a:ext cx="8479756" cy="12725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60080" y="2644169"/>
            <a:ext cx="89258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ritannic Bold" panose="020B0903060703020204" pitchFamily="34" charset="0"/>
              </a:rPr>
              <a:t>Sleeping </a:t>
            </a:r>
            <a:r>
              <a:rPr lang="en-US" sz="9600" dirty="0">
                <a:solidFill>
                  <a:schemeClr val="accent2">
                    <a:lumMod val="60000"/>
                    <a:lumOff val="40000"/>
                  </a:schemeClr>
                </a:solidFill>
                <a:latin typeface="Britannic Bold" panose="020B0903060703020204" pitchFamily="34" charset="0"/>
              </a:rPr>
              <a:t>Barber</a:t>
            </a:r>
            <a:endParaRPr lang="en-IN" sz="9600" dirty="0">
              <a:solidFill>
                <a:schemeClr val="accent2">
                  <a:lumMod val="60000"/>
                  <a:lumOff val="40000"/>
                </a:schemeClr>
              </a:solidFill>
              <a:latin typeface="Britannic Bold" panose="020B0903060703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680F1D3-7650-4307-A001-0163AD37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EE2DC-2067-350F-D9A9-AC38057840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9772"/>
          <a:stretch>
            <a:fillRect/>
          </a:stretch>
        </p:blipFill>
        <p:spPr>
          <a:xfrm>
            <a:off x="1026583" y="-3926"/>
            <a:ext cx="9605433" cy="6540073"/>
          </a:xfrm>
          <a:custGeom>
            <a:avLst/>
            <a:gdLst/>
            <a:ahLst/>
            <a:cxnLst/>
            <a:rect l="l" t="t" r="r" b="b"/>
            <a:pathLst>
              <a:path w="8678780" h="5873097">
                <a:moveTo>
                  <a:pt x="1379513" y="25"/>
                </a:moveTo>
                <a:cubicBezTo>
                  <a:pt x="1399326" y="458"/>
                  <a:pt x="1419819" y="6516"/>
                  <a:pt x="1438386" y="8439"/>
                </a:cubicBezTo>
                <a:cubicBezTo>
                  <a:pt x="1848256" y="51517"/>
                  <a:pt x="2258124" y="98056"/>
                  <a:pt x="2668443" y="139209"/>
                </a:cubicBezTo>
                <a:cubicBezTo>
                  <a:pt x="3052045" y="177671"/>
                  <a:pt x="3438361" y="186516"/>
                  <a:pt x="3823773" y="206516"/>
                </a:cubicBezTo>
                <a:cubicBezTo>
                  <a:pt x="4290252" y="230748"/>
                  <a:pt x="4755825" y="264980"/>
                  <a:pt x="5219588" y="318825"/>
                </a:cubicBezTo>
                <a:cubicBezTo>
                  <a:pt x="5541595" y="356518"/>
                  <a:pt x="5866772" y="382670"/>
                  <a:pt x="6193307" y="352672"/>
                </a:cubicBezTo>
                <a:cubicBezTo>
                  <a:pt x="6209610" y="351131"/>
                  <a:pt x="6228180" y="346134"/>
                  <a:pt x="6241767" y="351131"/>
                </a:cubicBezTo>
                <a:cubicBezTo>
                  <a:pt x="6400280" y="407287"/>
                  <a:pt x="6573284" y="366901"/>
                  <a:pt x="6737683" y="402287"/>
                </a:cubicBezTo>
                <a:cubicBezTo>
                  <a:pt x="6695564" y="538826"/>
                  <a:pt x="6514862" y="527670"/>
                  <a:pt x="6412962" y="622288"/>
                </a:cubicBezTo>
                <a:cubicBezTo>
                  <a:pt x="6579172" y="659979"/>
                  <a:pt x="6728627" y="698057"/>
                  <a:pt x="6880346" y="726518"/>
                </a:cubicBezTo>
                <a:cubicBezTo>
                  <a:pt x="7041122" y="756519"/>
                  <a:pt x="7177442" y="837673"/>
                  <a:pt x="7334594" y="873826"/>
                </a:cubicBezTo>
                <a:cubicBezTo>
                  <a:pt x="7368112" y="881518"/>
                  <a:pt x="7408419" y="908442"/>
                  <a:pt x="7420192" y="934596"/>
                </a:cubicBezTo>
                <a:cubicBezTo>
                  <a:pt x="7458235" y="1019211"/>
                  <a:pt x="8217735" y="1256521"/>
                  <a:pt x="8128063" y="1331904"/>
                </a:cubicBezTo>
                <a:cubicBezTo>
                  <a:pt x="8090926" y="1363059"/>
                  <a:pt x="8042918" y="1385367"/>
                  <a:pt x="7992648" y="1416136"/>
                </a:cubicBezTo>
                <a:cubicBezTo>
                  <a:pt x="8068283" y="1474214"/>
                  <a:pt x="8153426" y="1499598"/>
                  <a:pt x="8244004" y="1516906"/>
                </a:cubicBezTo>
                <a:cubicBezTo>
                  <a:pt x="8271178" y="1522290"/>
                  <a:pt x="8297900" y="1533059"/>
                  <a:pt x="8300615" y="1559214"/>
                </a:cubicBezTo>
                <a:cubicBezTo>
                  <a:pt x="8303332" y="1586521"/>
                  <a:pt x="8275706" y="1597289"/>
                  <a:pt x="8252610" y="1609983"/>
                </a:cubicBezTo>
                <a:cubicBezTo>
                  <a:pt x="8220454" y="1627674"/>
                  <a:pt x="8189205" y="1643059"/>
                  <a:pt x="8148444" y="1645368"/>
                </a:cubicBezTo>
                <a:cubicBezTo>
                  <a:pt x="8081415" y="1648828"/>
                  <a:pt x="8049262" y="1698059"/>
                  <a:pt x="8010314" y="1734983"/>
                </a:cubicBezTo>
                <a:cubicBezTo>
                  <a:pt x="7988574" y="1755753"/>
                  <a:pt x="7977704" y="1797675"/>
                  <a:pt x="8015746" y="1804984"/>
                </a:cubicBezTo>
                <a:cubicBezTo>
                  <a:pt x="8107232" y="1822675"/>
                  <a:pt x="8099984" y="1873831"/>
                  <a:pt x="8097722" y="1931908"/>
                </a:cubicBezTo>
                <a:cubicBezTo>
                  <a:pt x="8094550" y="2003830"/>
                  <a:pt x="8040654" y="2036908"/>
                  <a:pt x="7974534" y="2064601"/>
                </a:cubicBezTo>
                <a:cubicBezTo>
                  <a:pt x="7951888" y="2074215"/>
                  <a:pt x="7919734" y="2073829"/>
                  <a:pt x="7911128" y="2103831"/>
                </a:cubicBezTo>
                <a:cubicBezTo>
                  <a:pt x="7948266" y="2132293"/>
                  <a:pt x="7993555" y="2109215"/>
                  <a:pt x="8033411" y="2117292"/>
                </a:cubicBezTo>
                <a:cubicBezTo>
                  <a:pt x="8066471" y="2123831"/>
                  <a:pt x="8121271" y="2120370"/>
                  <a:pt x="8075982" y="2172677"/>
                </a:cubicBezTo>
                <a:cubicBezTo>
                  <a:pt x="8062847" y="2187676"/>
                  <a:pt x="8078246" y="2199215"/>
                  <a:pt x="8095004" y="2200369"/>
                </a:cubicBezTo>
                <a:cubicBezTo>
                  <a:pt x="8229060" y="2212293"/>
                  <a:pt x="8167466" y="2318063"/>
                  <a:pt x="8210492" y="2373833"/>
                </a:cubicBezTo>
                <a:cubicBezTo>
                  <a:pt x="8222264" y="2389215"/>
                  <a:pt x="8209584" y="2415754"/>
                  <a:pt x="8191016" y="2422293"/>
                </a:cubicBezTo>
                <a:cubicBezTo>
                  <a:pt x="8072357" y="2465372"/>
                  <a:pt x="8056054" y="2568063"/>
                  <a:pt x="7998536" y="2656525"/>
                </a:cubicBezTo>
                <a:cubicBezTo>
                  <a:pt x="8061036" y="2691525"/>
                  <a:pt x="8135764" y="2699217"/>
                  <a:pt x="8203244" y="2721909"/>
                </a:cubicBezTo>
                <a:cubicBezTo>
                  <a:pt x="8273442" y="2745756"/>
                  <a:pt x="8273442" y="2763447"/>
                  <a:pt x="8215472" y="2832678"/>
                </a:cubicBezTo>
                <a:cubicBezTo>
                  <a:pt x="8366284" y="2847680"/>
                  <a:pt x="8366284" y="2847680"/>
                  <a:pt x="8319638" y="2956526"/>
                </a:cubicBezTo>
                <a:cubicBezTo>
                  <a:pt x="8445996" y="2966525"/>
                  <a:pt x="8529327" y="3018064"/>
                  <a:pt x="8548800" y="3130757"/>
                </a:cubicBezTo>
                <a:cubicBezTo>
                  <a:pt x="8558311" y="3185372"/>
                  <a:pt x="8615377" y="3211141"/>
                  <a:pt x="8678780" y="3247679"/>
                </a:cubicBezTo>
                <a:cubicBezTo>
                  <a:pt x="8599978" y="3283066"/>
                  <a:pt x="8546537" y="3356911"/>
                  <a:pt x="8454599" y="3278833"/>
                </a:cubicBezTo>
                <a:cubicBezTo>
                  <a:pt x="8421087" y="3250373"/>
                  <a:pt x="8424254" y="3286526"/>
                  <a:pt x="8419728" y="3296911"/>
                </a:cubicBezTo>
                <a:cubicBezTo>
                  <a:pt x="8408859" y="3322295"/>
                  <a:pt x="8431501" y="3339218"/>
                  <a:pt x="8446448" y="3358448"/>
                </a:cubicBezTo>
                <a:cubicBezTo>
                  <a:pt x="8460939" y="3377681"/>
                  <a:pt x="8478149" y="3398064"/>
                  <a:pt x="8482226" y="3419605"/>
                </a:cubicBezTo>
                <a:cubicBezTo>
                  <a:pt x="8484942" y="3434604"/>
                  <a:pt x="8471809" y="3456526"/>
                  <a:pt x="8457318" y="3467682"/>
                </a:cubicBezTo>
                <a:cubicBezTo>
                  <a:pt x="8381232" y="3526527"/>
                  <a:pt x="8426520" y="3658836"/>
                  <a:pt x="8282501" y="3675759"/>
                </a:cubicBezTo>
                <a:cubicBezTo>
                  <a:pt x="8217735" y="3683450"/>
                  <a:pt x="8186486" y="3731913"/>
                  <a:pt x="8138932" y="3758451"/>
                </a:cubicBezTo>
                <a:cubicBezTo>
                  <a:pt x="7973628" y="3851144"/>
                  <a:pt x="7863120" y="3970376"/>
                  <a:pt x="7811946" y="4134221"/>
                </a:cubicBezTo>
                <a:cubicBezTo>
                  <a:pt x="7797906" y="4179605"/>
                  <a:pt x="7744010" y="4216145"/>
                  <a:pt x="7709139" y="4256145"/>
                </a:cubicBezTo>
                <a:cubicBezTo>
                  <a:pt x="7725896" y="4285376"/>
                  <a:pt x="7817379" y="4222298"/>
                  <a:pt x="7785224" y="4299221"/>
                </a:cubicBezTo>
                <a:cubicBezTo>
                  <a:pt x="7760768" y="4356915"/>
                  <a:pt x="7698269" y="4392684"/>
                  <a:pt x="7639392" y="4426916"/>
                </a:cubicBezTo>
                <a:cubicBezTo>
                  <a:pt x="7572364" y="4465762"/>
                  <a:pt x="7498091" y="4496914"/>
                  <a:pt x="7467746" y="4568838"/>
                </a:cubicBezTo>
                <a:cubicBezTo>
                  <a:pt x="7461405" y="4584223"/>
                  <a:pt x="7441025" y="4600376"/>
                  <a:pt x="7422910" y="4606531"/>
                </a:cubicBezTo>
                <a:cubicBezTo>
                  <a:pt x="6478176" y="5872304"/>
                  <a:pt x="4152572" y="5880765"/>
                  <a:pt x="3884462" y="5871919"/>
                </a:cubicBezTo>
                <a:cubicBezTo>
                  <a:pt x="3559738" y="5860765"/>
                  <a:pt x="3252674" y="5782688"/>
                  <a:pt x="2951503" y="5685381"/>
                </a:cubicBezTo>
                <a:cubicBezTo>
                  <a:pt x="2824239" y="5644226"/>
                  <a:pt x="2706035" y="5585765"/>
                  <a:pt x="2582393" y="5540381"/>
                </a:cubicBezTo>
                <a:cubicBezTo>
                  <a:pt x="2411654" y="5477686"/>
                  <a:pt x="2279862" y="5358071"/>
                  <a:pt x="2109575" y="5307686"/>
                </a:cubicBezTo>
                <a:cubicBezTo>
                  <a:pt x="1934305" y="5255763"/>
                  <a:pt x="1784398" y="5160762"/>
                  <a:pt x="1604145" y="5120379"/>
                </a:cubicBezTo>
                <a:cubicBezTo>
                  <a:pt x="1509040" y="5098840"/>
                  <a:pt x="1417102" y="5059994"/>
                  <a:pt x="1432046" y="4948840"/>
                </a:cubicBezTo>
                <a:cubicBezTo>
                  <a:pt x="1436123" y="4917301"/>
                  <a:pt x="1411214" y="4891532"/>
                  <a:pt x="1371813" y="4900763"/>
                </a:cubicBezTo>
                <a:cubicBezTo>
                  <a:pt x="1296633" y="4918071"/>
                  <a:pt x="1262665" y="4872300"/>
                  <a:pt x="1220998" y="4838069"/>
                </a:cubicBezTo>
                <a:cubicBezTo>
                  <a:pt x="1146725" y="4777302"/>
                  <a:pt x="1076074" y="4712685"/>
                  <a:pt x="957869" y="4702684"/>
                </a:cubicBezTo>
                <a:cubicBezTo>
                  <a:pt x="980512" y="4654991"/>
                  <a:pt x="1019009" y="4661916"/>
                  <a:pt x="1054336" y="4671915"/>
                </a:cubicBezTo>
                <a:cubicBezTo>
                  <a:pt x="1147177" y="4698070"/>
                  <a:pt x="1239115" y="4727684"/>
                  <a:pt x="1331957" y="4753839"/>
                </a:cubicBezTo>
                <a:cubicBezTo>
                  <a:pt x="1392645" y="4770763"/>
                  <a:pt x="1452881" y="4794609"/>
                  <a:pt x="1533949" y="4775761"/>
                </a:cubicBezTo>
                <a:cubicBezTo>
                  <a:pt x="1464202" y="4679607"/>
                  <a:pt x="1345545" y="4662300"/>
                  <a:pt x="1249533" y="4632685"/>
                </a:cubicBezTo>
                <a:cubicBezTo>
                  <a:pt x="1129515" y="4595378"/>
                  <a:pt x="1058865" y="4524991"/>
                  <a:pt x="974172" y="4446530"/>
                </a:cubicBezTo>
                <a:cubicBezTo>
                  <a:pt x="1062487" y="4427683"/>
                  <a:pt x="1117287" y="4485377"/>
                  <a:pt x="1186579" y="4482299"/>
                </a:cubicBezTo>
                <a:cubicBezTo>
                  <a:pt x="1190203" y="4472300"/>
                  <a:pt x="1196544" y="4457684"/>
                  <a:pt x="1195637" y="4457299"/>
                </a:cubicBezTo>
                <a:cubicBezTo>
                  <a:pt x="1082415" y="4414222"/>
                  <a:pt x="1029426" y="4333453"/>
                  <a:pt x="1011761" y="4235759"/>
                </a:cubicBezTo>
                <a:cubicBezTo>
                  <a:pt x="1002706" y="4185376"/>
                  <a:pt x="961492" y="4169607"/>
                  <a:pt x="920731" y="4146528"/>
                </a:cubicBezTo>
                <a:cubicBezTo>
                  <a:pt x="778522" y="4064606"/>
                  <a:pt x="628163" y="3990375"/>
                  <a:pt x="511316" y="3877683"/>
                </a:cubicBezTo>
                <a:cubicBezTo>
                  <a:pt x="646279" y="3892682"/>
                  <a:pt x="754521" y="3966143"/>
                  <a:pt x="899898" y="3997682"/>
                </a:cubicBezTo>
                <a:cubicBezTo>
                  <a:pt x="784411" y="3873836"/>
                  <a:pt x="634956" y="3811144"/>
                  <a:pt x="498636" y="3736143"/>
                </a:cubicBezTo>
                <a:cubicBezTo>
                  <a:pt x="436588" y="3701912"/>
                  <a:pt x="379073" y="3658065"/>
                  <a:pt x="303890" y="3639604"/>
                </a:cubicBezTo>
                <a:cubicBezTo>
                  <a:pt x="277170" y="3633065"/>
                  <a:pt x="233240" y="3619219"/>
                  <a:pt x="254527" y="3582680"/>
                </a:cubicBezTo>
                <a:cubicBezTo>
                  <a:pt x="272641" y="3552297"/>
                  <a:pt x="308419" y="3561526"/>
                  <a:pt x="341028" y="3570373"/>
                </a:cubicBezTo>
                <a:cubicBezTo>
                  <a:pt x="419378" y="3592297"/>
                  <a:pt x="500446" y="3592682"/>
                  <a:pt x="606424" y="3592297"/>
                </a:cubicBezTo>
                <a:cubicBezTo>
                  <a:pt x="517657" y="3491912"/>
                  <a:pt x="355067" y="3521913"/>
                  <a:pt x="278984" y="3416526"/>
                </a:cubicBezTo>
                <a:cubicBezTo>
                  <a:pt x="374088" y="3398064"/>
                  <a:pt x="447458" y="3436142"/>
                  <a:pt x="524452" y="3443448"/>
                </a:cubicBezTo>
                <a:cubicBezTo>
                  <a:pt x="594195" y="3449987"/>
                  <a:pt x="611405" y="3432296"/>
                  <a:pt x="595102" y="3374218"/>
                </a:cubicBezTo>
                <a:cubicBezTo>
                  <a:pt x="569741" y="3283833"/>
                  <a:pt x="607782" y="3237678"/>
                  <a:pt x="709231" y="3262295"/>
                </a:cubicBezTo>
                <a:cubicBezTo>
                  <a:pt x="803432" y="3285372"/>
                  <a:pt x="813394" y="3251526"/>
                  <a:pt x="788033" y="3199987"/>
                </a:cubicBezTo>
                <a:cubicBezTo>
                  <a:pt x="751802" y="3124988"/>
                  <a:pt x="793015" y="3066910"/>
                  <a:pt x="821094" y="3003833"/>
                </a:cubicBezTo>
                <a:cubicBezTo>
                  <a:pt x="864120" y="2907680"/>
                  <a:pt x="846003" y="2860755"/>
                  <a:pt x="753161" y="2789218"/>
                </a:cubicBezTo>
                <a:cubicBezTo>
                  <a:pt x="701080" y="2749216"/>
                  <a:pt x="644921" y="2715371"/>
                  <a:pt x="569285" y="2680756"/>
                </a:cubicBezTo>
                <a:cubicBezTo>
                  <a:pt x="743651" y="2661909"/>
                  <a:pt x="560683" y="2598448"/>
                  <a:pt x="622275" y="2558832"/>
                </a:cubicBezTo>
                <a:cubicBezTo>
                  <a:pt x="745462" y="2542678"/>
                  <a:pt x="846003" y="2668833"/>
                  <a:pt x="1013576" y="2632679"/>
                </a:cubicBezTo>
                <a:cubicBezTo>
                  <a:pt x="806602" y="2523446"/>
                  <a:pt x="577892" y="2487677"/>
                  <a:pt x="427984" y="2342293"/>
                </a:cubicBezTo>
                <a:cubicBezTo>
                  <a:pt x="462405" y="2309216"/>
                  <a:pt x="496823" y="2339985"/>
                  <a:pt x="526263" y="2327678"/>
                </a:cubicBezTo>
                <a:cubicBezTo>
                  <a:pt x="525356" y="2319985"/>
                  <a:pt x="527622" y="2308446"/>
                  <a:pt x="522186" y="2304986"/>
                </a:cubicBezTo>
                <a:cubicBezTo>
                  <a:pt x="410323" y="2225754"/>
                  <a:pt x="408509" y="2223831"/>
                  <a:pt x="528526" y="2165368"/>
                </a:cubicBezTo>
                <a:cubicBezTo>
                  <a:pt x="570645" y="2144984"/>
                  <a:pt x="567023" y="2126906"/>
                  <a:pt x="544832" y="2101138"/>
                </a:cubicBezTo>
                <a:cubicBezTo>
                  <a:pt x="528978" y="2083061"/>
                  <a:pt x="509957" y="2066906"/>
                  <a:pt x="519016" y="2027291"/>
                </a:cubicBezTo>
                <a:cubicBezTo>
                  <a:pt x="584685" y="2078062"/>
                  <a:pt x="902162" y="2061522"/>
                  <a:pt x="958321" y="2056137"/>
                </a:cubicBezTo>
                <a:cubicBezTo>
                  <a:pt x="1021272" y="2050369"/>
                  <a:pt x="1083319" y="2025753"/>
                  <a:pt x="1149440" y="2039214"/>
                </a:cubicBezTo>
                <a:cubicBezTo>
                  <a:pt x="1202430" y="2049985"/>
                  <a:pt x="1447897" y="2154215"/>
                  <a:pt x="1482772" y="2034599"/>
                </a:cubicBezTo>
                <a:cubicBezTo>
                  <a:pt x="1484583" y="2028831"/>
                  <a:pt x="1583765" y="2042293"/>
                  <a:pt x="1637208" y="2048831"/>
                </a:cubicBezTo>
                <a:cubicBezTo>
                  <a:pt x="1684309" y="2054216"/>
                  <a:pt x="1737297" y="2078062"/>
                  <a:pt x="1768999" y="2030369"/>
                </a:cubicBezTo>
                <a:cubicBezTo>
                  <a:pt x="1787568" y="2002293"/>
                  <a:pt x="1711030" y="1948062"/>
                  <a:pt x="1642642" y="1943445"/>
                </a:cubicBezTo>
                <a:cubicBezTo>
                  <a:pt x="1583312" y="1939214"/>
                  <a:pt x="1521266" y="1933060"/>
                  <a:pt x="1464655" y="1944599"/>
                </a:cubicBezTo>
                <a:cubicBezTo>
                  <a:pt x="1394911" y="1958446"/>
                  <a:pt x="1357322" y="1936138"/>
                  <a:pt x="1337846" y="1888061"/>
                </a:cubicBezTo>
                <a:cubicBezTo>
                  <a:pt x="1316106" y="1834985"/>
                  <a:pt x="1274439" y="1810368"/>
                  <a:pt x="1216924" y="1785752"/>
                </a:cubicBezTo>
                <a:cubicBezTo>
                  <a:pt x="1077431" y="1726138"/>
                  <a:pt x="943377" y="1657291"/>
                  <a:pt x="790299" y="1622676"/>
                </a:cubicBezTo>
                <a:cubicBezTo>
                  <a:pt x="759953" y="1615751"/>
                  <a:pt x="726441" y="1606521"/>
                  <a:pt x="712401" y="1560751"/>
                </a:cubicBezTo>
                <a:cubicBezTo>
                  <a:pt x="1126798" y="1629213"/>
                  <a:pt x="1504511" y="1807676"/>
                  <a:pt x="1932039" y="1797291"/>
                </a:cubicBezTo>
                <a:cubicBezTo>
                  <a:pt x="1815195" y="1740752"/>
                  <a:pt x="1679780" y="1737675"/>
                  <a:pt x="1555234" y="1698059"/>
                </a:cubicBezTo>
                <a:cubicBezTo>
                  <a:pt x="1643549" y="1668444"/>
                  <a:pt x="1726428" y="1699213"/>
                  <a:pt x="1810212" y="1716137"/>
                </a:cubicBezTo>
                <a:cubicBezTo>
                  <a:pt x="1880410" y="1729982"/>
                  <a:pt x="1943817" y="1732290"/>
                  <a:pt x="1951515" y="1649598"/>
                </a:cubicBezTo>
                <a:cubicBezTo>
                  <a:pt x="1948798" y="1644214"/>
                  <a:pt x="1949249" y="1637291"/>
                  <a:pt x="1949704" y="1630753"/>
                </a:cubicBezTo>
                <a:cubicBezTo>
                  <a:pt x="1926152" y="1596522"/>
                  <a:pt x="1889468" y="1578830"/>
                  <a:pt x="1845990" y="1568828"/>
                </a:cubicBezTo>
                <a:cubicBezTo>
                  <a:pt x="1819722" y="1562674"/>
                  <a:pt x="1784851" y="1553443"/>
                  <a:pt x="1785302" y="1528829"/>
                </a:cubicBezTo>
                <a:cubicBezTo>
                  <a:pt x="1786662" y="1437674"/>
                  <a:pt x="1702878" y="1411136"/>
                  <a:pt x="1619092" y="1384597"/>
                </a:cubicBezTo>
                <a:cubicBezTo>
                  <a:pt x="1665740" y="1339213"/>
                  <a:pt x="1702423" y="1372674"/>
                  <a:pt x="1737750" y="1369214"/>
                </a:cubicBezTo>
                <a:cubicBezTo>
                  <a:pt x="1760848" y="1366906"/>
                  <a:pt x="1781679" y="1362675"/>
                  <a:pt x="1781679" y="1339213"/>
                </a:cubicBezTo>
                <a:cubicBezTo>
                  <a:pt x="1782132" y="1319597"/>
                  <a:pt x="1771262" y="1297288"/>
                  <a:pt x="1748620" y="1296905"/>
                </a:cubicBezTo>
                <a:cubicBezTo>
                  <a:pt x="1606863" y="1293442"/>
                  <a:pt x="1528513" y="1167288"/>
                  <a:pt x="1381324" y="1166904"/>
                </a:cubicBezTo>
                <a:cubicBezTo>
                  <a:pt x="1293462" y="1166904"/>
                  <a:pt x="1427065" y="1095751"/>
                  <a:pt x="1352792" y="1066135"/>
                </a:cubicBezTo>
                <a:cubicBezTo>
                  <a:pt x="1336486" y="1059596"/>
                  <a:pt x="1395363" y="1049597"/>
                  <a:pt x="1421631" y="1051135"/>
                </a:cubicBezTo>
                <a:cubicBezTo>
                  <a:pt x="1447445" y="1052673"/>
                  <a:pt x="1470543" y="1071519"/>
                  <a:pt x="1501793" y="1058058"/>
                </a:cubicBezTo>
                <a:cubicBezTo>
                  <a:pt x="1519003" y="1009981"/>
                  <a:pt x="1474621" y="992289"/>
                  <a:pt x="1437935" y="978826"/>
                </a:cubicBezTo>
                <a:cubicBezTo>
                  <a:pt x="1353244" y="947673"/>
                  <a:pt x="1270817" y="909981"/>
                  <a:pt x="1177975" y="898826"/>
                </a:cubicBezTo>
                <a:cubicBezTo>
                  <a:pt x="1144915" y="894980"/>
                  <a:pt x="1225528" y="843440"/>
                  <a:pt x="1241378" y="825366"/>
                </a:cubicBezTo>
                <a:cubicBezTo>
                  <a:pt x="867743" y="635366"/>
                  <a:pt x="418474" y="644980"/>
                  <a:pt x="0" y="491517"/>
                </a:cubicBezTo>
                <a:cubicBezTo>
                  <a:pt x="92391" y="461518"/>
                  <a:pt x="160326" y="483440"/>
                  <a:pt x="223277" y="488057"/>
                </a:cubicBezTo>
                <a:cubicBezTo>
                  <a:pt x="380429" y="499594"/>
                  <a:pt x="535773" y="523440"/>
                  <a:pt x="692473" y="537671"/>
                </a:cubicBezTo>
                <a:cubicBezTo>
                  <a:pt x="769465" y="544594"/>
                  <a:pt x="841022" y="570749"/>
                  <a:pt x="927071" y="529211"/>
                </a:cubicBezTo>
                <a:cubicBezTo>
                  <a:pt x="984589" y="501518"/>
                  <a:pt x="1076527" y="531517"/>
                  <a:pt x="1147177" y="556134"/>
                </a:cubicBezTo>
                <a:cubicBezTo>
                  <a:pt x="1205600" y="576517"/>
                  <a:pt x="1261306" y="581901"/>
                  <a:pt x="1338752" y="556134"/>
                </a:cubicBezTo>
                <a:cubicBezTo>
                  <a:pt x="1268554" y="540364"/>
                  <a:pt x="1214658" y="526519"/>
                  <a:pt x="1159406" y="516901"/>
                </a:cubicBezTo>
                <a:cubicBezTo>
                  <a:pt x="1115475" y="509211"/>
                  <a:pt x="1220094" y="478056"/>
                  <a:pt x="1273535" y="481902"/>
                </a:cubicBezTo>
                <a:cubicBezTo>
                  <a:pt x="1348263" y="487287"/>
                  <a:pt x="1306144" y="467287"/>
                  <a:pt x="1293462" y="439595"/>
                </a:cubicBezTo>
                <a:cubicBezTo>
                  <a:pt x="1279875" y="409979"/>
                  <a:pt x="1320183" y="400749"/>
                  <a:pt x="1345545" y="406900"/>
                </a:cubicBezTo>
                <a:cubicBezTo>
                  <a:pt x="1442916" y="431133"/>
                  <a:pt x="1539834" y="388441"/>
                  <a:pt x="1640379" y="423057"/>
                </a:cubicBezTo>
                <a:cubicBezTo>
                  <a:pt x="1615015" y="337670"/>
                  <a:pt x="1560215" y="300363"/>
                  <a:pt x="1445634" y="288439"/>
                </a:cubicBezTo>
                <a:cubicBezTo>
                  <a:pt x="1402608" y="283826"/>
                  <a:pt x="1357773" y="290748"/>
                  <a:pt x="1320636" y="266131"/>
                </a:cubicBezTo>
                <a:cubicBezTo>
                  <a:pt x="1299349" y="251902"/>
                  <a:pt x="1275346" y="234978"/>
                  <a:pt x="1292104" y="208824"/>
                </a:cubicBezTo>
                <a:cubicBezTo>
                  <a:pt x="1303877" y="190363"/>
                  <a:pt x="1329242" y="190363"/>
                  <a:pt x="1350074" y="196517"/>
                </a:cubicBezTo>
                <a:cubicBezTo>
                  <a:pt x="1443371" y="223826"/>
                  <a:pt x="1540741" y="233825"/>
                  <a:pt x="1638113" y="243826"/>
                </a:cubicBezTo>
                <a:cubicBezTo>
                  <a:pt x="1653059" y="245364"/>
                  <a:pt x="1669814" y="250365"/>
                  <a:pt x="1686573" y="224977"/>
                </a:cubicBezTo>
                <a:cubicBezTo>
                  <a:pt x="1504511" y="183824"/>
                  <a:pt x="1331505" y="125362"/>
                  <a:pt x="1144459" y="102670"/>
                </a:cubicBezTo>
                <a:cubicBezTo>
                  <a:pt x="1147177" y="91900"/>
                  <a:pt x="1149896" y="81131"/>
                  <a:pt x="1152614" y="70362"/>
                </a:cubicBezTo>
                <a:cubicBezTo>
                  <a:pt x="1298896" y="85746"/>
                  <a:pt x="1445182" y="101131"/>
                  <a:pt x="1629961" y="120363"/>
                </a:cubicBezTo>
                <a:cubicBezTo>
                  <a:pt x="1516284" y="59207"/>
                  <a:pt x="1408951" y="79594"/>
                  <a:pt x="1324712" y="25362"/>
                </a:cubicBezTo>
                <a:cubicBezTo>
                  <a:pt x="1340563" y="4786"/>
                  <a:pt x="1359698" y="-407"/>
                  <a:pt x="1379513" y="25"/>
                </a:cubicBezTo>
                <a:close/>
              </a:path>
            </a:pathLst>
          </a:custGeom>
        </p:spPr>
      </p:pic>
      <p:pic>
        <p:nvPicPr>
          <p:cNvPr id="5" name="Thoongathe-Thambi-MassTamilan (mp3cut.net)">
            <a:hlinkClick r:id="" action="ppaction://media"/>
            <a:extLst>
              <a:ext uri="{FF2B5EF4-FFF2-40B4-BE49-F238E27FC236}">
                <a16:creationId xmlns:a16="http://schemas.microsoft.com/office/drawing/2014/main" id="{451E5A9D-D437-4833-CD3E-CF81924914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42475" y="3427942"/>
            <a:ext cx="400050" cy="3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0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/3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/3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69282-C44E-AAFC-5BB4-27E4053B8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442" y="643468"/>
            <a:ext cx="7428088" cy="5571066"/>
          </a:xfrm>
          <a:prstGeom prst="rect">
            <a:avLst/>
          </a:prstGeom>
        </p:spPr>
      </p:pic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Vikram-Arambikalama-BGM (mp3cut.net)">
            <a:hlinkClick r:id="" action="ppaction://media"/>
            <a:extLst>
              <a:ext uri="{FF2B5EF4-FFF2-40B4-BE49-F238E27FC236}">
                <a16:creationId xmlns:a16="http://schemas.microsoft.com/office/drawing/2014/main" id="{D269F0C2-255F-A63C-3543-BAED679297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27275" y="6213475"/>
            <a:ext cx="4000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8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d of tri, end of year, feelin it. Some memes for the soul 😌🔮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30" y="428983"/>
            <a:ext cx="4698740" cy="555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03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y confidence leaving the chat the moment they say, 'Introduce yourself.'  💀 #sarcasm #memes #funn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315" y="380704"/>
            <a:ext cx="4855369" cy="6096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2D26E-6726-4580-E7F7-17FBB11E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CASE 1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162D52-9A1D-C7D5-1C73-CAC7D8FAC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77316" y="1164777"/>
            <a:ext cx="6780700" cy="4526117"/>
          </a:xfrm>
          <a:prstGeom prst="rect">
            <a:avLst/>
          </a:prstGeom>
        </p:spPr>
      </p:pic>
      <p:pic>
        <p:nvPicPr>
          <p:cNvPr id="4" name="spinopel-cutting-with-scissors-429793">
            <a:hlinkClick r:id="" action="ppaction://media"/>
            <a:extLst>
              <a:ext uri="{FF2B5EF4-FFF2-40B4-BE49-F238E27FC236}">
                <a16:creationId xmlns:a16="http://schemas.microsoft.com/office/drawing/2014/main" id="{74A2D176-4068-E926-E85F-3275B36C3C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74142" y="5332942"/>
            <a:ext cx="357717" cy="3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2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220468" y="-1591424"/>
            <a:ext cx="1751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ranklin Gothic Demi Cond" panose="020B0706030402020204" pitchFamily="34" charset="0"/>
              </a:rPr>
              <a:t>Starvation</a:t>
            </a:r>
            <a:endParaRPr lang="en-IN" sz="2800" dirty="0">
              <a:latin typeface="Franklin Gothic Demi Cond" panose="020B07060304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4435" y="2497976"/>
            <a:ext cx="642312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Franklin Gothic Demi Cond" panose="020B0706030402020204" pitchFamily="34" charset="0"/>
              </a:rPr>
              <a:t>Starvation</a:t>
            </a:r>
            <a:endParaRPr lang="en-IN" sz="11500" dirty="0">
              <a:latin typeface="Franklin Gothic Demi Cond" panose="020B07060304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055" y="7562046"/>
            <a:ext cx="115458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</p:spTree>
    <p:extLst>
      <p:ext uri="{BB962C8B-B14F-4D97-AF65-F5344CB8AC3E}">
        <p14:creationId xmlns:p14="http://schemas.microsoft.com/office/powerpoint/2010/main" val="3388707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056" y="2951946"/>
            <a:ext cx="115458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6151" y="7331241"/>
            <a:ext cx="100028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5782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1035229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4581" y="3136612"/>
            <a:ext cx="100028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8054" y="7347633"/>
            <a:ext cx="4895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P3 -&gt; Low Priority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48054" y="-365155"/>
            <a:ext cx="1707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328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-1153467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1192599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08898" y="2551837"/>
            <a:ext cx="54296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36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32000" y="7525405"/>
          <a:ext cx="8127999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206">
                <a:tc>
                  <a:txBody>
                    <a:bodyPr/>
                    <a:lstStyle/>
                    <a:p>
                      <a:r>
                        <a:rPr lang="en-US" dirty="0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P2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Arrow: Down 8"/>
          <p:cNvSpPr/>
          <p:nvPr/>
        </p:nvSpPr>
        <p:spPr>
          <a:xfrm rot="7710388">
            <a:off x="-1917700" y="4102100"/>
            <a:ext cx="254000" cy="6604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670300" y="435064"/>
            <a:ext cx="1707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44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-1153467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1192599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1950133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8450" y="4914900"/>
          <a:ext cx="6515100" cy="3854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465"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P3</a:t>
                      </a:r>
                      <a:endParaRPr lang="en-IN" u="sng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P2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P3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Arrow: Down 9"/>
          <p:cNvSpPr/>
          <p:nvPr/>
        </p:nvSpPr>
        <p:spPr>
          <a:xfrm>
            <a:off x="2971800" y="4089400"/>
            <a:ext cx="254000" cy="6604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960226" y="3244334"/>
            <a:ext cx="596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Currently P3 has the highest priority in the waiting queue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70300" y="435064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091" y="2126133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 order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P1&gt;P2&gt;P3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905" y="550407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before P3 could execute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Right 14"/>
          <p:cNvSpPr/>
          <p:nvPr/>
        </p:nvSpPr>
        <p:spPr>
          <a:xfrm rot="10800000">
            <a:off x="-1198125" y="4996834"/>
            <a:ext cx="596900" cy="2215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700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-1153467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1192599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1950133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8450" y="4934604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1" i="0" u="sng" dirty="0">
                          <a:latin typeface="Arial Black" panose="020B0A04020102020204" pitchFamily="34" charset="0"/>
                        </a:rPr>
                        <a:t>P1</a:t>
                      </a:r>
                      <a:endParaRPr lang="en-IN" b="1" i="0" u="sng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 dirty="0">
                          <a:latin typeface="+mn-lt"/>
                        </a:rPr>
                        <a:t>P3</a:t>
                      </a:r>
                      <a:endParaRPr lang="en-IN" b="0" u="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P3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70300" y="435064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5091" y="2126133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 order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P1&gt;P2&gt;P3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8784" y="3189163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P3 has lower priority than P1 so it will wait until P1 is executed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Right 14"/>
          <p:cNvSpPr/>
          <p:nvPr/>
        </p:nvSpPr>
        <p:spPr>
          <a:xfrm>
            <a:off x="2141975" y="5006686"/>
            <a:ext cx="596900" cy="2215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482600" y="5665401"/>
            <a:ext cx="616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higher priority process P1 has entered the waiting queue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2600" y="6053604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Scheduler assigns P1 to CPU due to its higher priority</a:t>
            </a:r>
          </a:p>
        </p:txBody>
      </p:sp>
      <p:sp>
        <p:nvSpPr>
          <p:cNvPr id="21" name="Arrow: Circular 20"/>
          <p:cNvSpPr/>
          <p:nvPr/>
        </p:nvSpPr>
        <p:spPr>
          <a:xfrm>
            <a:off x="4541126" y="4169203"/>
            <a:ext cx="830974" cy="837008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Arrow: Down 22"/>
          <p:cNvSpPr/>
          <p:nvPr/>
        </p:nvSpPr>
        <p:spPr>
          <a:xfrm rot="10800000">
            <a:off x="2971800" y="4089400"/>
            <a:ext cx="254000" cy="6604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2641269" y="370924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22092" y="492888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-1153467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1192599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1950133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8450" y="4934604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0" u="sng" dirty="0">
                          <a:latin typeface="Arial Black" panose="020B0A04020102020204" pitchFamily="34" charset="0"/>
                        </a:rPr>
                        <a:t>P3</a:t>
                      </a:r>
                      <a:endParaRPr lang="en-IN" b="0" u="sng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u="sng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Arrow: Down 9"/>
          <p:cNvSpPr/>
          <p:nvPr/>
        </p:nvSpPr>
        <p:spPr>
          <a:xfrm>
            <a:off x="3005015" y="3985369"/>
            <a:ext cx="254000" cy="6604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121748" y="3138624"/>
            <a:ext cx="3057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Now, P1 has been executed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139" y="7084506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70300" y="435064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091" y="2126133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 order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P1&gt;P2&gt;P3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1139" y="5956300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Again, before P3 could execute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/>
          <p:cNvSpPr/>
          <p:nvPr/>
        </p:nvSpPr>
        <p:spPr>
          <a:xfrm rot="10800000">
            <a:off x="-1198125" y="4996834"/>
            <a:ext cx="596900" cy="2215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Circular 15"/>
          <p:cNvSpPr/>
          <p:nvPr/>
        </p:nvSpPr>
        <p:spPr>
          <a:xfrm rot="10800000">
            <a:off x="4745274" y="6715174"/>
            <a:ext cx="830974" cy="837008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6840" y="3604199"/>
            <a:ext cx="669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is out of the waiting queue 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 descr="Meeple MEME on X: &quot;It's my turn, right? #j2s #boardgames&quot; / 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726" y="659755"/>
            <a:ext cx="3702839" cy="37028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29700" y="3302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89148" y="3389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899675" y="503376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-1153467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1192599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1950133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8450" y="4934604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0" u="sng" dirty="0">
                          <a:latin typeface="Arial Black" panose="020B0A04020102020204" pitchFamily="34" charset="0"/>
                        </a:rPr>
                        <a:t>P2</a:t>
                      </a:r>
                      <a:endParaRPr lang="en-IN" b="0" u="sng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u="sng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03850" y="3150462"/>
            <a:ext cx="6455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P3 again has to wait until P2 executes due to its lower priority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1139" y="7084506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70300" y="435064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091" y="2126133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 order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P1&gt;P2&gt;P3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rrow: Right 20"/>
          <p:cNvSpPr/>
          <p:nvPr/>
        </p:nvSpPr>
        <p:spPr>
          <a:xfrm>
            <a:off x="2141975" y="5006686"/>
            <a:ext cx="596900" cy="2215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/>
          <p:cNvSpPr/>
          <p:nvPr/>
        </p:nvSpPr>
        <p:spPr>
          <a:xfrm rot="10800000">
            <a:off x="2971800" y="4089400"/>
            <a:ext cx="254000" cy="6604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2641269" y="370924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row: Circular 26"/>
          <p:cNvSpPr/>
          <p:nvPr/>
        </p:nvSpPr>
        <p:spPr>
          <a:xfrm>
            <a:off x="4541126" y="4169203"/>
            <a:ext cx="830974" cy="837008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2600" y="5665401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Another higher priority process P2 has entered the waiting queue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2600" y="6053604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Scheduler assigns P2 to CPU due to its higher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2092" y="492888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Are You Serious Right Neow?&quot; - YouTub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726" y="216109"/>
            <a:ext cx="3671888" cy="27663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21502" y="148630"/>
            <a:ext cx="773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P3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062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-1153467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1192599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1950133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38450" y="4914900"/>
          <a:ext cx="6515100" cy="3854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465"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P3</a:t>
                      </a:r>
                      <a:endParaRPr lang="en-IN" u="sng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P2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P3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Arrow: Down 9"/>
          <p:cNvSpPr/>
          <p:nvPr/>
        </p:nvSpPr>
        <p:spPr>
          <a:xfrm rot="10800000">
            <a:off x="2971800" y="4089400"/>
            <a:ext cx="254000" cy="66040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22325" y="5519846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Finally P3 executes which is currently the highest priority process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waiting queue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70300" y="435064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091" y="2126133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Priority order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P1&gt;P2&gt;P3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Right 14"/>
          <p:cNvSpPr/>
          <p:nvPr/>
        </p:nvSpPr>
        <p:spPr>
          <a:xfrm rot="10800000">
            <a:off x="-1198125" y="4996834"/>
            <a:ext cx="596900" cy="2215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641269" y="370924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67110" y="3081447"/>
            <a:ext cx="3057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Now, P2 has been executed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2202" y="3547022"/>
            <a:ext cx="3376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is out of the waiting queue 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 descr="Yes Finally! - Happy Squirrel Meme Genera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981" y="305926"/>
            <a:ext cx="3376760" cy="43452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1035229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2041126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2677691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30400" y="4052920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0" dirty="0"/>
                        <a:t>P1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 dirty="0"/>
                        <a:t>P3</a:t>
                      </a:r>
                      <a:endParaRPr lang="en-IN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4139" y="4593580"/>
            <a:ext cx="5118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4139" y="7217040"/>
            <a:ext cx="3906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 Scheduling policies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4139" y="7757700"/>
            <a:ext cx="703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Low-priority processes being repeatedly ignored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3796" y="-514900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(the problem)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me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978" y="2502791"/>
            <a:ext cx="3485243" cy="29019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34284" y="3277855"/>
            <a:ext cx="66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P3</a:t>
            </a:r>
            <a:endParaRPr lang="en-I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1035229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2041126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2677691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30400" y="4052920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0" dirty="0"/>
                        <a:t>P1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 dirty="0"/>
                        <a:t>P3</a:t>
                      </a:r>
                      <a:endParaRPr lang="en-IN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4139" y="4593580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4139" y="5134240"/>
            <a:ext cx="5019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Poor Scheduling policies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4139" y="7757700"/>
            <a:ext cx="703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Low-priority processes being repeatedly ignored</a:t>
            </a:r>
          </a:p>
        </p:txBody>
      </p:sp>
      <p:pic>
        <p:nvPicPr>
          <p:cNvPr id="11" name="Picture 10" descr="me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978" y="2502791"/>
            <a:ext cx="3485243" cy="29019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34284" y="3277855"/>
            <a:ext cx="66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P3</a:t>
            </a:r>
            <a:endParaRPr lang="en-I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1035229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2041126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2677691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30400" y="4052920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0" dirty="0"/>
                        <a:t>P1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 dirty="0"/>
                        <a:t>P3</a:t>
                      </a:r>
                      <a:endParaRPr lang="en-IN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4139" y="4593580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4139" y="5049807"/>
            <a:ext cx="3906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 Scheduling policies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2297" y="5591938"/>
            <a:ext cx="91935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Low-priority processes being repeatedly ignored</a:t>
            </a:r>
          </a:p>
        </p:txBody>
      </p:sp>
      <p:pic>
        <p:nvPicPr>
          <p:cNvPr id="8" name="Picture 7" descr="me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978" y="2502791"/>
            <a:ext cx="3485243" cy="29019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34284" y="3277855"/>
            <a:ext cx="66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P3</a:t>
            </a:r>
            <a:endParaRPr lang="en-I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1035229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325" y="2041126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2325" y="2677691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30400" y="4052920"/>
          <a:ext cx="651510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19">
                <a:tc>
                  <a:txBody>
                    <a:bodyPr/>
                    <a:lstStyle/>
                    <a:p>
                      <a:r>
                        <a:rPr lang="en-US" b="0" dirty="0"/>
                        <a:t>P1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 dirty="0"/>
                        <a:t>P3</a:t>
                      </a:r>
                      <a:endParaRPr lang="en-IN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4139" y="4593580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4139" y="5049807"/>
            <a:ext cx="3906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 Scheduling policies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4139" y="5511472"/>
            <a:ext cx="703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Low-priority processes being repeatedly ignored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88588" y="3147226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me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978" y="2502791"/>
            <a:ext cx="3485243" cy="29019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34284" y="3277855"/>
            <a:ext cx="66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P3</a:t>
            </a:r>
            <a:endParaRPr lang="en-IN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9438" y="304427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49417" y="7202621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P3 always have to wait?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5325" y="-1542493"/>
            <a:ext cx="10547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process waits for a very long time (possibly forever) because other processes keep getting the resources/CPU before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139" y="-626765"/>
            <a:ext cx="1000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Starvation commonly occurs in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Priority Scheduling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4228647" y="2547062"/>
            <a:ext cx="3833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 : P1 -&gt; High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P2 -&gt; Hight Priority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P3 -&gt; </a:t>
            </a:r>
            <a:r>
              <a:rPr lang="en-US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4093370" y="3936804"/>
          <a:ext cx="5223330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479">
                <a:tc>
                  <a:txBody>
                    <a:bodyPr/>
                    <a:lstStyle/>
                    <a:p>
                      <a:r>
                        <a:rPr lang="en-US" b="0" dirty="0"/>
                        <a:t>P1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 dirty="0"/>
                        <a:t>P3</a:t>
                      </a:r>
                      <a:endParaRPr lang="en-IN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039282" y="7481923"/>
            <a:ext cx="39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Unfair resource allocation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39282" y="7938150"/>
            <a:ext cx="3906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 Scheduling policies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39282" y="8399815"/>
            <a:ext cx="703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Low-priority processes being repeatedly ignored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9438" y="304427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27500" y="4183649"/>
            <a:ext cx="634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Does P3 always have to wait?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19438" y="304427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27500" y="4183649"/>
            <a:ext cx="634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Does P3 always have to wait?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Speed Trying Not To Laugh Gif"/>
          <p:cNvPicPr>
            <a:picLocks noChangeAspect="1"/>
          </p:cNvPicPr>
          <p:nvPr/>
        </p:nvPicPr>
        <p:blipFill>
          <a:blip r:embed="rId2"/>
          <a:srcRect t="26980" b="26447"/>
          <a:stretch>
            <a:fillRect/>
          </a:stretch>
        </p:blipFill>
        <p:spPr>
          <a:xfrm>
            <a:off x="8615331" y="200069"/>
            <a:ext cx="3060308" cy="25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2080" y="2306016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P3 : PLS I NEED THIS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501191" y="3044279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2696" y="-121466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008" y="309330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(the solution)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8790" y="7376792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P3 always have to wait?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88180" y="2967335"/>
            <a:ext cx="195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1419" y="7192125"/>
            <a:ext cx="10721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Aging gradually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increases the priority of a process the longer it waits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2696" y="-121466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008" y="309330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(the solution)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513" y="1021415"/>
            <a:ext cx="17828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4685" y="1894556"/>
            <a:ext cx="6328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Aging gradually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increases the priority of a process the longer it waits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797104" y="3309257"/>
          <a:ext cx="5069982" cy="4523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351">
                <a:tc>
                  <a:txBody>
                    <a:bodyPr/>
                    <a:lstStyle/>
                    <a:p>
                      <a:r>
                        <a:rPr lang="en-US" b="1" i="1" u="sng" dirty="0"/>
                        <a:t>3</a:t>
                      </a:r>
                      <a:endParaRPr lang="en-IN" b="1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Arrow: Up 11"/>
          <p:cNvSpPr/>
          <p:nvPr/>
        </p:nvSpPr>
        <p:spPr>
          <a:xfrm rot="16200000">
            <a:off x="-1789984" y="3036681"/>
            <a:ext cx="830997" cy="618857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2696" y="-121466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008" y="309330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(the solution)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513" y="1021415"/>
            <a:ext cx="17828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4684" y="1894556"/>
            <a:ext cx="10479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Aging gradually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increases the priority of a process the longer it waits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4684" y="2356221"/>
            <a:ext cx="85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1029" y="2859424"/>
            <a:ext cx="242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P3 Priority overtime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54703" y="3391897"/>
          <a:ext cx="357987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u="sng" dirty="0"/>
                        <a:t>3</a:t>
                      </a:r>
                      <a:endParaRPr lang="en-IN" b="1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Arrow: Up 15"/>
          <p:cNvSpPr/>
          <p:nvPr/>
        </p:nvSpPr>
        <p:spPr>
          <a:xfrm>
            <a:off x="3818791" y="3827748"/>
            <a:ext cx="230696" cy="618857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3072696" y="4575343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P1 is executing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2696" y="-121466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008" y="309330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(the solution)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513" y="1021415"/>
            <a:ext cx="17828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4684" y="1894556"/>
            <a:ext cx="10479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Aging gradually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increases the priority of a process the longer it waits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4684" y="2356221"/>
            <a:ext cx="85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1029" y="2859424"/>
            <a:ext cx="242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P3 Priority overtime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54703" y="3391897"/>
          <a:ext cx="357987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none" dirty="0"/>
                        <a:t>3</a:t>
                      </a:r>
                      <a:endParaRPr lang="en-IN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u="sng" dirty="0"/>
                        <a:t>2</a:t>
                      </a:r>
                      <a:endParaRPr lang="en-IN" b="1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Arrow: Up 12"/>
          <p:cNvSpPr/>
          <p:nvPr/>
        </p:nvSpPr>
        <p:spPr>
          <a:xfrm>
            <a:off x="4982076" y="3827748"/>
            <a:ext cx="230696" cy="618857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4250620" y="4539961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P2 is executing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17771" y="6914104"/>
            <a:ext cx="6328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Now P3 gets the CPU.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7771" y="7114159"/>
            <a:ext cx="6328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Now P3 gets the CPU.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2696" y="-121466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008" y="309330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(the solution)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513" y="1021415"/>
            <a:ext cx="17828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4684" y="1894556"/>
            <a:ext cx="10479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Aging gradually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increases the priority of a process the longer it waits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4684" y="2356221"/>
            <a:ext cx="85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1029" y="2859424"/>
            <a:ext cx="242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P3 Priority overtime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54703" y="3391897"/>
          <a:ext cx="357987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none" dirty="0"/>
                        <a:t>3</a:t>
                      </a:r>
                      <a:endParaRPr lang="en-IN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u="none" dirty="0"/>
                        <a:t>2</a:t>
                      </a:r>
                      <a:endParaRPr lang="en-IN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u="sng" dirty="0"/>
                        <a:t>1</a:t>
                      </a:r>
                      <a:endParaRPr lang="en-IN" b="1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Arrow: Up 8"/>
          <p:cNvSpPr/>
          <p:nvPr/>
        </p:nvSpPr>
        <p:spPr>
          <a:xfrm>
            <a:off x="6213645" y="3853820"/>
            <a:ext cx="230696" cy="618857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5426277" y="4534077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Finally P3 is the highest priority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17771" y="4964809"/>
            <a:ext cx="6328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Now P3 gets the CPU.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774" y="2468382"/>
            <a:ext cx="1964284" cy="34681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5028" y="7038237"/>
            <a:ext cx="1004068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Result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Long waiting time → Higher priority → Eventually executes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65100"/>
            <a:ext cx="386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2696" y="-1214669"/>
            <a:ext cx="5553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Is there any solution?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008" y="309330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(the solution)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8790" y="7376792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P3 always have to wait?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513" y="1021415"/>
            <a:ext cx="17828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Aging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4684" y="1894556"/>
            <a:ext cx="10479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Aging gradually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increases the priority of a process the longer it waits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04684" y="2356221"/>
            <a:ext cx="85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1029" y="2859424"/>
            <a:ext cx="2420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P3 Priority overtime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54703" y="3391897"/>
          <a:ext cx="357987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u="none" dirty="0"/>
                        <a:t>3</a:t>
                      </a:r>
                      <a:endParaRPr lang="en-IN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u="none" dirty="0"/>
                        <a:t>2</a:t>
                      </a:r>
                      <a:endParaRPr lang="en-IN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u="sng" dirty="0"/>
                        <a:t>1</a:t>
                      </a:r>
                      <a:endParaRPr lang="en-IN" b="1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Arrow: Up 8"/>
          <p:cNvSpPr/>
          <p:nvPr/>
        </p:nvSpPr>
        <p:spPr>
          <a:xfrm>
            <a:off x="6213645" y="3853820"/>
            <a:ext cx="230696" cy="618857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5426277" y="4534077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Finally P3 is the highest priority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17771" y="4964809"/>
            <a:ext cx="6328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Now P3 gets the CPU.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028" y="5371206"/>
            <a:ext cx="1004068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Result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Long waiting time → Higher priority → Eventually executes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774" y="2468382"/>
            <a:ext cx="1964284" cy="3468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505" y="212611"/>
            <a:ext cx="398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Franklin Gothic Demi Cond" panose="020B0706030402020204" pitchFamily="34" charset="0"/>
              </a:rPr>
              <a:t>Starvation</a:t>
            </a:r>
            <a:endParaRPr lang="en-IN" sz="7200" dirty="0">
              <a:latin typeface="Franklin Gothic Demi Cond" panose="020B0706030402020204" pitchFamily="34" charset="0"/>
            </a:endParaRPr>
          </a:p>
        </p:txBody>
      </p:sp>
      <p:pic>
        <p:nvPicPr>
          <p:cNvPr id="2" name="Picture 1" descr="Sleeping Barber problem in Process Synchronization - GeeksforGee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150" y="1235075"/>
            <a:ext cx="87757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47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300445-C6CA-A524-6710-1A275617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1" b="19324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E15EE-F52F-BF40-69FA-F8550398C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112" y="284273"/>
            <a:ext cx="6115705" cy="62894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757011-B473-DE4A-BF2A-8609115E7ED7}"/>
              </a:ext>
            </a:extLst>
          </p:cNvPr>
          <p:cNvSpPr txBox="1"/>
          <p:nvPr/>
        </p:nvSpPr>
        <p:spPr>
          <a:xfrm>
            <a:off x="2285999" y="5754414"/>
            <a:ext cx="780393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300" i="1">
                <a:solidFill>
                  <a:schemeClr val="bg1"/>
                </a:solidFill>
                <a:highlight>
                  <a:srgbClr val="000000"/>
                </a:highlight>
                <a:latin typeface="Franklin Gothic"/>
                <a:cs typeface="Angsana New"/>
              </a:rPr>
              <a:t>When you know race condition is the problem... </a:t>
            </a:r>
            <a:endParaRPr lang="en-US" sz="2300" i="1">
              <a:solidFill>
                <a:schemeClr val="bg1"/>
              </a:solidFill>
              <a:highlight>
                <a:srgbClr val="000000"/>
              </a:highlight>
              <a:latin typeface="Franklin Gothic"/>
              <a:cs typeface="Angsana New"/>
            </a:endParaRPr>
          </a:p>
          <a:p>
            <a:pPr algn="ctr"/>
            <a:r>
              <a:rPr lang="en-GB" sz="2300" i="1">
                <a:solidFill>
                  <a:schemeClr val="bg1"/>
                </a:solidFill>
                <a:highlight>
                  <a:srgbClr val="000000"/>
                </a:highlight>
                <a:latin typeface="Franklin Gothic"/>
                <a:cs typeface="Angsana New"/>
              </a:rPr>
              <a:t>can't it yet prove but </a:t>
            </a:r>
            <a:r>
              <a:rPr lang="en-GB" sz="2300" i="1" dirty="0">
                <a:solidFill>
                  <a:schemeClr val="bg1"/>
                </a:solidFill>
                <a:highlight>
                  <a:srgbClr val="000000"/>
                </a:highlight>
                <a:latin typeface="Arial"/>
                <a:cs typeface="Arial"/>
              </a:rPr>
              <a:t> </a:t>
            </a:r>
            <a:endParaRPr lang="en-US" sz="2300" i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5" name="James Doakes - QuickSounds.com">
            <a:hlinkClick r:id="" action="ppaction://media"/>
            <a:extLst>
              <a:ext uri="{FF2B5EF4-FFF2-40B4-BE49-F238E27FC236}">
                <a16:creationId xmlns:a16="http://schemas.microsoft.com/office/drawing/2014/main" id="{A0BB4744-AECE-C280-6CC5-C466C43890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74081" y="6506012"/>
            <a:ext cx="349250" cy="3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1D69-D753-8168-D95A-4B31EFC7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i="1">
                <a:ea typeface="+mj-lt"/>
                <a:cs typeface="+mj-lt"/>
              </a:rPr>
              <a:t>RACE CONDITION</a:t>
            </a:r>
            <a:r>
              <a:rPr lang="en-GB">
                <a:ea typeface="+mj-lt"/>
                <a:cs typeface="+mj-lt"/>
              </a:rPr>
              <a:t> ‍‍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D09A7-F00F-4D9B-2541-294856814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GB" sz="3200" dirty="0">
                <a:latin typeface="Times New Roman"/>
                <a:ea typeface="+mn-lt"/>
                <a:cs typeface="Times New Roman"/>
              </a:rPr>
              <a:t>A race condition occurs when two or more processes/threads </a:t>
            </a:r>
            <a:endParaRPr lang="en-GB" sz="3200">
              <a:latin typeface="Times New Roman"/>
              <a:ea typeface="+mn-lt"/>
              <a:cs typeface="Times New Roman"/>
            </a:endParaRPr>
          </a:p>
          <a:p>
            <a:pPr algn="just"/>
            <a:endParaRPr lang="en-GB" sz="3200" dirty="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</a:pPr>
            <a:r>
              <a:rPr lang="en-GB" sz="3200" dirty="0">
                <a:latin typeface="Times New Roman"/>
                <a:ea typeface="+mn-lt"/>
                <a:cs typeface="Times New Roman"/>
              </a:rPr>
              <a:t>access a shared resource at the same time, and the final result </a:t>
            </a:r>
            <a:endParaRPr lang="en-GB" sz="3200">
              <a:latin typeface="Times New Roman"/>
              <a:ea typeface="+mn-lt"/>
              <a:cs typeface="Times New Roman"/>
            </a:endParaRPr>
          </a:p>
          <a:p>
            <a:pPr algn="just"/>
            <a:endParaRPr lang="en-GB" sz="3200" dirty="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</a:pPr>
            <a:r>
              <a:rPr lang="en-GB" sz="3200">
                <a:latin typeface="Times New Roman"/>
                <a:ea typeface="+mn-lt"/>
                <a:cs typeface="Times New Roman"/>
              </a:rPr>
              <a:t>depends on the timing of their execution.</a:t>
            </a:r>
            <a:endParaRPr lang="en-GB"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310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gne de solution Stock Photos, Royalty Free Signe de solution Images |  DepositPhotos">
            <a:extLst>
              <a:ext uri="{FF2B5EF4-FFF2-40B4-BE49-F238E27FC236}">
                <a16:creationId xmlns:a16="http://schemas.microsoft.com/office/drawing/2014/main" id="{4D05687C-F341-7F98-EEE1-C13017791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" y="134"/>
            <a:ext cx="12189153" cy="6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1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1C17-BBF7-8294-FD0C-F0A47EC4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i="1" dirty="0"/>
              <a:t>MUTEX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B67E-B7B3-1B64-B269-0DBE08DE4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GB" dirty="0">
                <a:ea typeface="+mn-lt"/>
                <a:cs typeface="+mn-lt"/>
              </a:rPr>
              <a:t>A </a:t>
            </a:r>
            <a:r>
              <a:rPr lang="en-GB" b="1" dirty="0">
                <a:ea typeface="+mn-lt"/>
                <a:cs typeface="+mn-lt"/>
              </a:rPr>
              <a:t>Mutex</a:t>
            </a:r>
            <a:r>
              <a:rPr lang="en-GB" dirty="0">
                <a:ea typeface="+mn-lt"/>
                <a:cs typeface="+mn-lt"/>
              </a:rPr>
              <a:t> (Mutual Exclusion) is a synchronization mechanism that </a:t>
            </a:r>
            <a:endParaRPr lang="en-US"/>
          </a:p>
          <a:p>
            <a:pPr algn="just"/>
            <a:endParaRPr lang="en-GB" dirty="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GB" dirty="0">
                <a:ea typeface="+mn-lt"/>
                <a:cs typeface="+mn-lt"/>
              </a:rPr>
              <a:t>allows only one process or thread to access a shared resource at </a:t>
            </a:r>
          </a:p>
          <a:p>
            <a:pPr algn="just"/>
            <a:endParaRPr lang="en-GB" dirty="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GB" dirty="0">
                <a:ea typeface="+mn-lt"/>
                <a:cs typeface="+mn-lt"/>
              </a:rPr>
              <a:t>a time.</a:t>
            </a:r>
          </a:p>
          <a:p>
            <a:pPr marL="0" indent="0" algn="just">
              <a:buNone/>
            </a:pPr>
            <a:endParaRPr lang="en-GB" dirty="0"/>
          </a:p>
          <a:p>
            <a:pPr algn="ctr">
              <a:buNone/>
            </a:pPr>
            <a:r>
              <a:rPr lang="en-GB" b="1" dirty="0">
                <a:ea typeface="+mn-lt"/>
                <a:cs typeface="+mn-lt"/>
              </a:rPr>
              <a:t>One process at a time → prevents race conditions.</a:t>
            </a: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01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41E279-1340-0184-C770-6D3EAD5C1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2775"/>
            <a:ext cx="12191999" cy="6854038"/>
          </a:xfrm>
          <a:prstGeom prst="rect">
            <a:avLst/>
          </a:prstGeom>
        </p:spPr>
      </p:pic>
      <p:pic>
        <p:nvPicPr>
          <p:cNvPr id="2" name="vidssave.com HEY INGA NADHA KING UHH Jailer mass dialogue  jailer  rajinikanth  hukum 144P">
            <a:hlinkClick r:id="" action="ppaction://media"/>
            <a:extLst>
              <a:ext uri="{FF2B5EF4-FFF2-40B4-BE49-F238E27FC236}">
                <a16:creationId xmlns:a16="http://schemas.microsoft.com/office/drawing/2014/main" id="{4EB58C69-160C-660E-B604-9F6CE18374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34542" y="6154208"/>
            <a:ext cx="493184" cy="4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152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8782D-9948-146E-985B-5CCB6A9F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CASE 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A9E6B2-8707-9CEC-D055-58BD7291A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725333" y="816577"/>
            <a:ext cx="7518399" cy="5018255"/>
          </a:xfrm>
          <a:prstGeom prst="rect">
            <a:avLst/>
          </a:prstGeom>
        </p:spPr>
      </p:pic>
      <p:pic>
        <p:nvPicPr>
          <p:cNvPr id="3" name="Picture 2">
            <a:hlinkClick r:id="" action="ppaction://media"/>
            <a:extLst>
              <a:ext uri="{FF2B5EF4-FFF2-40B4-BE49-F238E27FC236}">
                <a16:creationId xmlns:a16="http://schemas.microsoft.com/office/drawing/2014/main" id="{0B25CBB4-323C-1C67-9B48-270BF45DCA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793942" y="5400675"/>
            <a:ext cx="450850" cy="4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3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Deadlock?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or more processes hold a resource the other needs, and neither will release its own — so both wait forever.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Shop Scenario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5120640" cy="2514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barbers are working in the shop; both need a shared resource to cut hair.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 holds the comb and waits for the scissors.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 holds the scissors and waits for the comb.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Neither barber will let go of what they already have.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0" y="2606040"/>
            <a:ext cx="2194560" cy="2514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home/claude/deadlock_ppt/comb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761488"/>
            <a:ext cx="713232" cy="7132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354787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85876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Holds: Comb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Waits for: Scissors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235440" y="2606040"/>
            <a:ext cx="2194560" cy="2514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deadlock_ppt/scissor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761488"/>
            <a:ext cx="713232" cy="7132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235440" y="354787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235440" y="385876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Holds: Scissors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Waits for: Comb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796528" y="3611880"/>
            <a:ext cx="50292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796528" y="3913632"/>
            <a:ext cx="502920" cy="237744"/>
          </a:xfrm>
          <a:prstGeom prst="lef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412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1: Holds Comb, Waits for Scissors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691640" y="2194560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deadlock_ppt/comb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468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5661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3291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 holding: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50292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097280" y="502920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— needs Scissors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920240"/>
            <a:ext cx="731520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 picks up the comb first, to start prepping the customer's hair.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finish the cut, Barber 1 also needs the scissors — but they're already in Barber 2's hand.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 chooses to keep the comb rather than put it down, and simply waits.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“hold and wait” condition: a process keeps its current resource while blocked on another.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4179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2: Holds Scissors, Waits for Comb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691640" y="2194560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deadlock_ppt/scissor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468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56616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3291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 holding: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Scissors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50292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097280" y="502920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— needs Comb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920240"/>
            <a:ext cx="731520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 picks up the scissors first, planning to trim the customer's hair.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style the hair properly, Barber 2 also needs the comb — but Barber 1 is holding it.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 also refuses to release the scissors, and simply waits in turn.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situation is now symmetric: each barber holds one tool and needs the other's.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48881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Circular Wait → Deadlock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barbers wait for each other indefinitely — the haircuts never finish.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377440" y="3063240"/>
            <a:ext cx="1828800" cy="1828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2377440" y="37033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3063240"/>
            <a:ext cx="1828800" cy="1828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223760" y="37033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Barber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2926080"/>
            <a:ext cx="3017520" cy="32004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206240" y="246888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waits for scissors →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51206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waits for comb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49240" y="3474720"/>
            <a:ext cx="1005840" cy="100584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0" descr="/home/claude/deadlock_ppt/sync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70332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14400" y="5257800"/>
            <a:ext cx="10332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Neither barber will let go of the resource they already hold.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is stuck waiting on a resource held by the other — a closed loop of dependencies.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barber can ever move forward: this closed loop is a circular wait.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DEADLOCK — both barbers, and the customer, wait forever.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33368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3200">
                <a:latin typeface="Calibri" panose="020F0502020204030204"/>
              </a:rPr>
              <a:t>Semaphore: Controlling Shared Resources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3108960" y="1828800"/>
            <a:ext cx="8412480" cy="306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450">
                <a:latin typeface="Calibri" panose="020F0502020204030204"/>
              </a:rPr>
              <a:t>A semaphore is a synchronization variable used to control access to shared resources.
It uses two basic operations: wait() to request/decrease the semaphore value and signal() to release/increase it.
For the barber shop, a semaphore can control how many barbers are allowed to use a shared resource at the same time.
A binary semaphore has values 0 or 1 and can provide mutual exclusion, similar to a lock.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latin typeface="Calibri" panose="020F0502020204030204"/>
              </a:rPr>
              <a:t>Semaphore idea: a barber performs wait() before entering the protected section and signal() after releasing the resource.</a:t>
            </a:r>
            <a:endParaRPr lang="en-US" sz="1300" dirty="0"/>
          </a:p>
        </p:txBody>
      </p:sp>
      <p:sp>
        <p:nvSpPr>
          <p:cNvPr id="19" name="Rounded Rectangle 18"/>
          <p:cNvSpPr/>
          <p:nvPr/>
        </p:nvSpPr>
        <p:spPr>
          <a:xfrm>
            <a:off x="822960" y="2011680"/>
            <a:ext cx="1828800" cy="1828800"/>
          </a:xfrm>
          <a:prstGeom prst="roundRect">
            <a:avLst/>
          </a:prstGeom>
          <a:solidFill>
            <a:srgbClr val="F1F8F7"/>
          </a:solidFill>
          <a:ln w="19050">
            <a:solidFill>
              <a:srgbClr val="AA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1F2A44"/>
                </a:solidFill>
                <a:latin typeface="Aptos"/>
              </a:defRPr>
            </a:pPr>
            <a:r>
              <a:t>SEMAPHORE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009688"/>
                </a:solidFill>
                <a:latin typeface="Aptos"/>
              </a:defRPr>
            </a:pPr>
            <a:r>
              <a:t>wait()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74151"/>
                </a:solidFill>
                <a:latin typeface="Aptos"/>
              </a:defRPr>
            </a:pPr>
            <a:r>
              <a:t>RESOURCE</a:t>
            </a:r>
          </a:p>
          <a:p>
            <a:pPr algn="ctr">
              <a:spcAft>
                <a:spcPts val="200"/>
              </a:spcAft>
              <a:defRPr sz="1700" b="1">
                <a:solidFill>
                  <a:srgbClr val="009688"/>
                </a:solidFill>
                <a:latin typeface="Aptos"/>
              </a:defRPr>
            </a:pPr>
            <a:r>
              <a:t>signal()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5074920"/>
            <a:ext cx="2743200" cy="731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74151"/>
                </a:solidFill>
                <a:latin typeface="Aptos"/>
              </a:defRPr>
            </a:pPr>
            <a:r>
              <a:t>Semaphore = wait() + signal()</a:t>
            </a:r>
          </a:p>
        </p:txBody>
      </p:sp>
    </p:spTree>
    <p:extLst>
      <p:ext uri="{BB962C8B-B14F-4D97-AF65-F5344CB8AC3E}">
        <p14:creationId xmlns:p14="http://schemas.microsoft.com/office/powerpoint/2010/main" val="1174555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3200">
                <a:latin typeface="Calibri" panose="020F0502020204030204"/>
              </a:rPr>
              <a:t>Wait Manager: Managing Waiting Processes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3108960" y="1828800"/>
            <a:ext cx="8412480" cy="306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450">
                <a:latin typeface="Calibri" panose="020F0502020204030204"/>
              </a:rPr>
              <a:t>The wait manager controls processes that cannot obtain a resource immediately.
When a resource is unavailable, the requesting process is placed in a waiting queue instead of continuously trying to acquire the resource.
When the resource becomes available, the wait manager selects a waiting process and allows it to continue.
This helps organize waiting, but a poorly designed waiting relationship can still lead to deadlock or starvation.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latin typeface="Calibri" panose="020F0502020204030204"/>
              </a:rPr>
              <a:t>Wait manager idea: Barber 2 waits in the queue for the required tool; when the tool is released, the manager wakes an eligible waiting barber.</a:t>
            </a:r>
            <a:endParaRPr lang="en-US" sz="1300" dirty="0"/>
          </a:p>
        </p:txBody>
      </p:sp>
      <p:sp>
        <p:nvSpPr>
          <p:cNvPr id="19" name="Rounded Rectangle 18"/>
          <p:cNvSpPr/>
          <p:nvPr/>
        </p:nvSpPr>
        <p:spPr>
          <a:xfrm>
            <a:off x="822960" y="2011680"/>
            <a:ext cx="1828800" cy="1828800"/>
          </a:xfrm>
          <a:prstGeom prst="roundRect">
            <a:avLst/>
          </a:prstGeom>
          <a:solidFill>
            <a:srgbClr val="F1F8F7"/>
          </a:solidFill>
          <a:ln w="19050">
            <a:solidFill>
              <a:srgbClr val="AA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1F2A44"/>
                </a:solidFill>
                <a:latin typeface="Aptos"/>
              </a:defRPr>
            </a:pPr>
            <a:r>
              <a:t>WAIT MANAGER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74151"/>
                </a:solidFill>
                <a:latin typeface="Aptos"/>
              </a:defRPr>
            </a:pPr>
            <a:r>
              <a:t>REQUEST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009688"/>
                </a:solidFill>
                <a:latin typeface="Aptos"/>
              </a:defRPr>
            </a:pPr>
            <a:r>
              <a:t>↓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374151"/>
                </a:solidFill>
                <a:latin typeface="Aptos"/>
              </a:defRPr>
            </a:pPr>
            <a:r>
              <a:t>WAITING QUEUE</a:t>
            </a:r>
          </a:p>
          <a:p>
            <a:pPr algn="ctr">
              <a:spcAft>
                <a:spcPts val="200"/>
              </a:spcAft>
              <a:defRPr sz="1800" b="1">
                <a:solidFill>
                  <a:srgbClr val="009688"/>
                </a:solidFill>
                <a:latin typeface="Aptos"/>
              </a:defRPr>
            </a:pPr>
            <a:r>
              <a:t>↓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009688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5074920"/>
            <a:ext cx="2743200" cy="731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74151"/>
                </a:solidFill>
                <a:latin typeface="Aptos"/>
              </a:defRPr>
            </a:pPr>
            <a:r>
              <a:t>Waiting is managed — but it does not automatically prevent deadlock</a:t>
            </a:r>
          </a:p>
        </p:txBody>
      </p:sp>
    </p:spTree>
    <p:extLst>
      <p:ext uri="{BB962C8B-B14F-4D97-AF65-F5344CB8AC3E}">
        <p14:creationId xmlns:p14="http://schemas.microsoft.com/office/powerpoint/2010/main" val="1377674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Avoiding Deadlock: Lock Ordering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1828800" cy="1828800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deadlock_ppt/sortnum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1828800"/>
            <a:ext cx="8412480" cy="306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every shared resource a fixed, global number — for example, Comb = 1, Scissors = 2.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barber must always request resources in that same numeric order: comb before scissors, never the reverse.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Barber 2 also has to ask for the comb first, they can never be caught holding the scissors while waiting for the comb.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both barbers now follow the same acquisition order, the circular dependency from the earlier scenario can never form.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with lock ordering:  </a:t>
            </a: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barbers request Comb → Scissors, in that order — so a barber never holds the scissors while blocked on the comb.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833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Avoiding Deadlock: Single Mutex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1828800" cy="18288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deadlock_ppt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1828800"/>
            <a:ext cx="8412480" cy="306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two separate resources, combine the comb and scissors into a single “haircut kit” protected by one mutex (lock).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barber must acquire the whole kit — comb and scissors together — before starting any haircut.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other barber simply waits for the entire kit to be free; there's nothing left to split, so no circular dependency can form.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it's simple and deadlock-proof, but the two tools can no longer be used independently, which can reduce concurrency.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with a single mutex:  </a:t>
            </a: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one barber can hold the comb + scissors at a time, so the other always waits on one lock — never two.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01687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Avoiding Deadlock: Timeout &amp; Retry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1828800" cy="1828800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deadlock_ppt/hourglas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23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1828800"/>
            <a:ext cx="8412480" cy="3063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barber who is waiting for the second tool sets a timer instead of waiting forever.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scissors (or comb) don't become free before the timeout, the barber releases the tool they're already holding.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a short random pause, the barber retries from scratch — picking up whichever tool is free first.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random backoff means both barbers are unlikely to retry in perfect sync, so eventually one of them completes the haircut.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512064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with timeout &amp; retry:  </a:t>
            </a: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barber stuck waiting gives up, frees its tool, and tries again later — breaking the circular wait automatically.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18679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2F0047-F539-1B3D-803A-BFB27CB5F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" r="-87" b="-123"/>
          <a:stretch>
            <a:fillRect/>
          </a:stretch>
        </p:blipFill>
        <p:spPr>
          <a:xfrm>
            <a:off x="1243013" y="8466"/>
            <a:ext cx="971445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D121E2-FC6A-091F-4690-E4BC808A5D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" r="-87" b="-123"/>
          <a:stretch>
            <a:fillRect/>
          </a:stretch>
        </p:blipFill>
        <p:spPr>
          <a:xfrm>
            <a:off x="1243013" y="8466"/>
            <a:ext cx="9714451" cy="6858000"/>
          </a:xfrm>
          <a:prstGeom prst="rect">
            <a:avLst/>
          </a:prstGeom>
        </p:spPr>
      </p:pic>
      <p:pic>
        <p:nvPicPr>
          <p:cNvPr id="6" name="dragon-studio-gun-reload-511309">
            <a:hlinkClick r:id="" action="ppaction://media"/>
            <a:extLst>
              <a:ext uri="{FF2B5EF4-FFF2-40B4-BE49-F238E27FC236}">
                <a16:creationId xmlns:a16="http://schemas.microsoft.com/office/drawing/2014/main" id="{2A4FEA52-7D29-D0EF-25FF-5CAFB5A528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56875" y="6323542"/>
            <a:ext cx="4000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RACE CONDITION ‍‍</vt:lpstr>
      <vt:lpstr>PowerPoint Presentation</vt:lpstr>
      <vt:lpstr>MUTEX</vt:lpstr>
      <vt:lpstr>PowerPoint Presentation</vt:lpstr>
      <vt:lpstr>CASE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337</cp:revision>
  <dcterms:created xsi:type="dcterms:W3CDTF">2026-08-30T10:37:30Z</dcterms:created>
  <dcterms:modified xsi:type="dcterms:W3CDTF">2026-09-02T06:30:00Z</dcterms:modified>
</cp:coreProperties>
</file>